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EF7604-9EBE-0444-9C75-33213C40AF4F}" v="10" dt="2026-03-02T01:54:52.9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279" autoAdjust="0"/>
    <p:restoredTop sz="65884" autoAdjust="0"/>
  </p:normalViewPr>
  <p:slideViewPr>
    <p:cSldViewPr snapToGrid="0">
      <p:cViewPr>
        <p:scale>
          <a:sx n="68" d="100"/>
          <a:sy n="68" d="100"/>
        </p:scale>
        <p:origin x="-720" y="688"/>
      </p:cViewPr>
      <p:guideLst/>
    </p:cSldViewPr>
  </p:slideViewPr>
  <p:notesTextViewPr>
    <p:cViewPr>
      <p:scale>
        <a:sx n="1" d="1"/>
        <a:sy n="1" d="1"/>
      </p:scale>
      <p:origin x="0" y="-12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ano, James" userId="0826fdd9-1e70-48d8-ba10-6486ad6be19c" providerId="ADAL" clId="{5BE45793-CBE1-50E9-ABAE-D4625CD3880C}"/>
    <pc:docChg chg="custSel modSld">
      <pc:chgData name="Marcano, James" userId="0826fdd9-1e70-48d8-ba10-6486ad6be19c" providerId="ADAL" clId="{5BE45793-CBE1-50E9-ABAE-D4625CD3880C}" dt="2026-03-02T01:54:12.718" v="33"/>
      <pc:docMkLst>
        <pc:docMk/>
      </pc:docMkLst>
      <pc:sldChg chg="modSp mod">
        <pc:chgData name="Marcano, James" userId="0826fdd9-1e70-48d8-ba10-6486ad6be19c" providerId="ADAL" clId="{5BE45793-CBE1-50E9-ABAE-D4625CD3880C}" dt="2026-03-02T01:48:08.177" v="4" actId="27636"/>
        <pc:sldMkLst>
          <pc:docMk/>
          <pc:sldMk cId="1865885945" sldId="260"/>
        </pc:sldMkLst>
        <pc:spChg chg="mod">
          <ac:chgData name="Marcano, James" userId="0826fdd9-1e70-48d8-ba10-6486ad6be19c" providerId="ADAL" clId="{5BE45793-CBE1-50E9-ABAE-D4625CD3880C}" dt="2026-03-02T01:48:08.177" v="4" actId="27636"/>
          <ac:spMkLst>
            <pc:docMk/>
            <pc:sldMk cId="1865885945" sldId="260"/>
            <ac:spMk id="3" creationId="{00000000-0000-0000-0000-000000000000}"/>
          </ac:spMkLst>
        </pc:spChg>
      </pc:sldChg>
      <pc:sldChg chg="addSp delSp modSp mod">
        <pc:chgData name="Marcano, James" userId="0826fdd9-1e70-48d8-ba10-6486ad6be19c" providerId="ADAL" clId="{5BE45793-CBE1-50E9-ABAE-D4625CD3880C}" dt="2026-03-02T01:50:02.185" v="11"/>
        <pc:sldMkLst>
          <pc:docMk/>
          <pc:sldMk cId="2776425341" sldId="261"/>
        </pc:sldMkLst>
        <pc:spChg chg="del mod">
          <ac:chgData name="Marcano, James" userId="0826fdd9-1e70-48d8-ba10-6486ad6be19c" providerId="ADAL" clId="{5BE45793-CBE1-50E9-ABAE-D4625CD3880C}" dt="2026-03-02T01:49:58.212" v="9" actId="931"/>
          <ac:spMkLst>
            <pc:docMk/>
            <pc:sldMk cId="2776425341" sldId="261"/>
            <ac:spMk id="3" creationId="{00000000-0000-0000-0000-000000000000}"/>
          </ac:spMkLst>
        </pc:spChg>
        <pc:spChg chg="add del mod">
          <ac:chgData name="Marcano, James" userId="0826fdd9-1e70-48d8-ba10-6486ad6be19c" providerId="ADAL" clId="{5BE45793-CBE1-50E9-ABAE-D4625CD3880C}" dt="2026-03-02T01:50:02.185" v="11"/>
          <ac:spMkLst>
            <pc:docMk/>
            <pc:sldMk cId="2776425341" sldId="261"/>
            <ac:spMk id="6" creationId="{4C0285C2-0BF7-E8C9-7D67-AE6B61B59AB8}"/>
          </ac:spMkLst>
        </pc:spChg>
        <pc:picChg chg="add del mod">
          <ac:chgData name="Marcano, James" userId="0826fdd9-1e70-48d8-ba10-6486ad6be19c" providerId="ADAL" clId="{5BE45793-CBE1-50E9-ABAE-D4625CD3880C}" dt="2026-03-02T01:49:45.579" v="6" actId="478"/>
          <ac:picMkLst>
            <pc:docMk/>
            <pc:sldMk cId="2776425341" sldId="261"/>
            <ac:picMk id="5" creationId="{75D5C8CD-1A18-6D9D-BF2A-04AF19A2834E}"/>
          </ac:picMkLst>
        </pc:picChg>
        <pc:picChg chg="add mod ord">
          <ac:chgData name="Marcano, James" userId="0826fdd9-1e70-48d8-ba10-6486ad6be19c" providerId="ADAL" clId="{5BE45793-CBE1-50E9-ABAE-D4625CD3880C}" dt="2026-03-02T01:49:58.212" v="9" actId="931"/>
          <ac:picMkLst>
            <pc:docMk/>
            <pc:sldMk cId="2776425341" sldId="261"/>
            <ac:picMk id="8" creationId="{82D17E20-15ED-14DD-C4FE-D884525E9179}"/>
          </ac:picMkLst>
        </pc:picChg>
      </pc:sldChg>
      <pc:sldChg chg="addSp delSp modSp mod">
        <pc:chgData name="Marcano, James" userId="0826fdd9-1e70-48d8-ba10-6486ad6be19c" providerId="ADAL" clId="{5BE45793-CBE1-50E9-ABAE-D4625CD3880C}" dt="2026-03-02T01:54:01.827" v="32"/>
        <pc:sldMkLst>
          <pc:docMk/>
          <pc:sldMk cId="376843144" sldId="263"/>
        </pc:sldMkLst>
        <pc:spChg chg="mod">
          <ac:chgData name="Marcano, James" userId="0826fdd9-1e70-48d8-ba10-6486ad6be19c" providerId="ADAL" clId="{5BE45793-CBE1-50E9-ABAE-D4625CD3880C}" dt="2026-03-02T01:53:20.851" v="30" actId="20577"/>
          <ac:spMkLst>
            <pc:docMk/>
            <pc:sldMk cId="376843144" sldId="263"/>
            <ac:spMk id="3" creationId="{00000000-0000-0000-0000-000000000000}"/>
          </ac:spMkLst>
        </pc:spChg>
        <pc:spChg chg="add del mod">
          <ac:chgData name="Marcano, James" userId="0826fdd9-1e70-48d8-ba10-6486ad6be19c" providerId="ADAL" clId="{5BE45793-CBE1-50E9-ABAE-D4625CD3880C}" dt="2026-03-02T01:54:01.827" v="32"/>
          <ac:spMkLst>
            <pc:docMk/>
            <pc:sldMk cId="376843144" sldId="263"/>
            <ac:spMk id="4" creationId="{A6179587-9BC7-9BD2-367B-25C66332F477}"/>
          </ac:spMkLst>
        </pc:spChg>
      </pc:sldChg>
      <pc:sldChg chg="modSp">
        <pc:chgData name="Marcano, James" userId="0826fdd9-1e70-48d8-ba10-6486ad6be19c" providerId="ADAL" clId="{5BE45793-CBE1-50E9-ABAE-D4625CD3880C}" dt="2026-03-02T01:54:12.718" v="33"/>
        <pc:sldMkLst>
          <pc:docMk/>
          <pc:sldMk cId="3225141645" sldId="265"/>
        </pc:sldMkLst>
        <pc:spChg chg="mod">
          <ac:chgData name="Marcano, James" userId="0826fdd9-1e70-48d8-ba10-6486ad6be19c" providerId="ADAL" clId="{5BE45793-CBE1-50E9-ABAE-D4625CD3880C}" dt="2026-03-02T01:54:12.718" v="33"/>
          <ac:spMkLst>
            <pc:docMk/>
            <pc:sldMk cId="3225141645" sldId="265"/>
            <ac:spMk id="3" creationId="{00000000-0000-0000-0000-000000000000}"/>
          </ac:spMkLst>
        </pc:spChg>
      </pc:sldChg>
      <pc:sldChg chg="addSp delSp modSp mod modNotesTx">
        <pc:chgData name="Marcano, James" userId="0826fdd9-1e70-48d8-ba10-6486ad6be19c" providerId="ADAL" clId="{5BE45793-CBE1-50E9-ABAE-D4625CD3880C}" dt="2026-03-02T01:52:30.256" v="27" actId="20577"/>
        <pc:sldMkLst>
          <pc:docMk/>
          <pc:sldMk cId="3564055637" sldId="267"/>
        </pc:sldMkLst>
        <pc:spChg chg="del mod">
          <ac:chgData name="Marcano, James" userId="0826fdd9-1e70-48d8-ba10-6486ad6be19c" providerId="ADAL" clId="{5BE45793-CBE1-50E9-ABAE-D4625CD3880C}" dt="2026-03-02T01:51:46.227" v="13" actId="931"/>
          <ac:spMkLst>
            <pc:docMk/>
            <pc:sldMk cId="3564055637" sldId="267"/>
            <ac:spMk id="3" creationId="{00000000-0000-0000-0000-000000000000}"/>
          </ac:spMkLst>
        </pc:spChg>
        <pc:picChg chg="add mod ord">
          <ac:chgData name="Marcano, James" userId="0826fdd9-1e70-48d8-ba10-6486ad6be19c" providerId="ADAL" clId="{5BE45793-CBE1-50E9-ABAE-D4625CD3880C}" dt="2026-03-02T01:51:46.227" v="13" actId="931"/>
          <ac:picMkLst>
            <pc:docMk/>
            <pc:sldMk cId="3564055637" sldId="267"/>
            <ac:picMk id="5" creationId="{AE405796-55C7-A961-270C-FA42B7F4357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t>
            </a:r>
            <a:r>
              <a:rPr lang="en-US" dirty="0" err="1"/>
              <a:t>DriverPass</a:t>
            </a:r>
            <a:r>
              <a:rPr lang="en-US" dirty="0"/>
              <a:t> system, I identified both functional and nonfunctional requirements to ensure the platform meets operational and security needs.</a:t>
            </a:r>
          </a:p>
          <a:p>
            <a:br>
              <a:rPr lang="en-US" dirty="0"/>
            </a:br>
            <a:endParaRPr lang="en-US" dirty="0"/>
          </a:p>
          <a:p>
            <a:r>
              <a:rPr lang="en-US" dirty="0"/>
              <a:t>The functional requirements describe what the system must be able to do. The system must allow students to register and log in securely, schedule and cancel driving lessons, purchase lesson packages, and complete practice exams. Instructors must be able to view assigned lessons and update lesson information. Administrative users must be able to manage user roles and update exam content. These functions support </a:t>
            </a:r>
            <a:r>
              <a:rPr lang="en-US" dirty="0" err="1"/>
              <a:t>DriverPass’s</a:t>
            </a:r>
            <a:r>
              <a:rPr lang="en-US" dirty="0"/>
              <a:t> core goal of automating scheduling and improving coordination between students and instructors.</a:t>
            </a:r>
          </a:p>
          <a:p>
            <a:br>
              <a:rPr lang="en-US" dirty="0"/>
            </a:br>
            <a:endParaRPr lang="en-US" dirty="0"/>
          </a:p>
          <a:p>
            <a:r>
              <a:rPr lang="en-US" dirty="0"/>
              <a:t>The nonfunctional requirements describe how the system should perform. The system must provide secure authentication with encrypted password storage, role-based access control to protect sensitive features, and reliable database storage to maintain reservation and user records. It must also prevent double-booking of instructors and support multiple concurrent users without performance issues. These requirements ensure the system is secure, reliable, and capable of supporting business growth.</a:t>
            </a:r>
          </a:p>
          <a:p>
            <a:br>
              <a:rPr lang="en-US" dirty="0"/>
            </a:br>
            <a:endParaRPr lang="en-US" dirty="0"/>
          </a:p>
          <a:p>
            <a:r>
              <a:rPr lang="en-US" dirty="0"/>
              <a:t>Together, these requirements ensure that </a:t>
            </a:r>
            <a:r>
              <a:rPr lang="en-US" dirty="0" err="1"/>
              <a:t>DriverPass</a:t>
            </a:r>
            <a:r>
              <a:rPr lang="en-US" dirty="0"/>
              <a:t> can operate efficiently while protecting user data and maintaining scheduling accuracy.</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different types of people who interact with the </a:t>
            </a:r>
            <a:r>
              <a:rPr lang="en-US" dirty="0" err="1"/>
              <a:t>DriverPass</a:t>
            </a:r>
            <a:r>
              <a:rPr lang="en-US" dirty="0"/>
              <a:t> system and the actions they can perform.</a:t>
            </a:r>
          </a:p>
          <a:p>
            <a:br>
              <a:rPr lang="en-US" dirty="0"/>
            </a:br>
            <a:endParaRPr lang="en-US" dirty="0"/>
          </a:p>
          <a:p>
            <a:r>
              <a:rPr lang="en-US" dirty="0"/>
              <a:t>Students are able to create accounts, log in, purchase lesson packages, schedule or cancel driving lessons, and complete practice exams. Instructors can view their assigned lessons and update lesson information after a session is completed. Administrative staff can manage user accounts and update training materials when needed. The payment service connects to the system to process transactions securely.</a:t>
            </a:r>
          </a:p>
          <a:p>
            <a:br>
              <a:rPr lang="en-US" dirty="0"/>
            </a:br>
            <a:endParaRPr lang="en-US" dirty="0"/>
          </a:p>
          <a:p>
            <a:r>
              <a:rPr lang="en-US" dirty="0"/>
              <a:t>The design ensures that each user only has access to the tools appropriate for their role. By clearly defining responsibilities and system capabilities, the platform supports </a:t>
            </a:r>
            <a:r>
              <a:rPr lang="en-US" dirty="0" err="1"/>
              <a:t>DriverPass’s</a:t>
            </a:r>
            <a:r>
              <a:rPr lang="en-US" dirty="0"/>
              <a:t> goal of automating scheduling, improving coordination between students and instructors, and maintaining secure account management. This structure helps reduce manual work while ensuring that the system remains organized and controlled.</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DriverPass</a:t>
            </a:r>
            <a:r>
              <a:rPr lang="en-US" dirty="0"/>
              <a:t> needs a system that makes it easy for students to learn, schedule, and stay on track without the staff having to manage everything manually. On the “what the system must do” side, the key requirements are: letting students create an account and sign in, purchase lesson packages, schedule driving lessons, and take practice exams. It also needs staff tools to manage customer accounts, manage appointments, and keep training content up to date. Instructors need a simple way to see their assigned lessons and update lesson status after a session is completed.</a:t>
            </a:r>
          </a:p>
          <a:p>
            <a:br>
              <a:rPr lang="en-US" dirty="0"/>
            </a:br>
            <a:endParaRPr lang="en-US" dirty="0"/>
          </a:p>
          <a:p>
            <a:r>
              <a:rPr lang="en-US" dirty="0"/>
              <a:t>On the “how well it must work” side, the system needs strong security (accounts protected, role-based access so only the right people can change schedules or content, and activity logging so changes can be traced). It also needs to be reliable and available, since students may schedule outside business hours. Finally, it should be easy to use on common devices, respond quickly when checking schedules/availability, and store information safely so lessons, payments, and records don’t get lost. These requirements directly support </a:t>
            </a:r>
            <a:r>
              <a:rPr lang="en-US" dirty="0" err="1"/>
              <a:t>DriverPass’s</a:t>
            </a:r>
            <a:r>
              <a:rPr lang="en-US" dirty="0"/>
              <a:t> business goal: reduce scheduling friction, improve training consistency, and keep students moving toward passing their DMV test.</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a major consideration in the design of the </a:t>
            </a:r>
            <a:r>
              <a:rPr lang="en-US" dirty="0" err="1"/>
              <a:t>DriverPass</a:t>
            </a:r>
            <a:r>
              <a:rPr lang="en-US" dirty="0"/>
              <a:t> system. Because the platform stores personal information and manages lesson scheduling, it must protect both customer data and business operations.</a:t>
            </a:r>
          </a:p>
          <a:p>
            <a:br>
              <a:rPr lang="en-US" dirty="0"/>
            </a:br>
            <a:endParaRPr lang="en-US" dirty="0"/>
          </a:p>
          <a:p>
            <a:r>
              <a:rPr lang="en-US" dirty="0"/>
              <a:t>First, users are required to create secure accounts and log in with protected credentials. Passwords are not stored in plain text, and only authorized users can access specific features. For example, students cannot modify administrative settings, and instructors cannot change account permissions. Each person only has access to the tools needed for their role.</a:t>
            </a:r>
          </a:p>
          <a:p>
            <a:br>
              <a:rPr lang="en-US" dirty="0"/>
            </a:br>
            <a:endParaRPr lang="en-US" dirty="0"/>
          </a:p>
          <a:p>
            <a:r>
              <a:rPr lang="en-US" dirty="0"/>
              <a:t>Second, all information transmitted through the system is encrypted, meaning sensitive details such as login credentials and reservation data are protected while being sent over the internet.</a:t>
            </a:r>
          </a:p>
          <a:p>
            <a:br>
              <a:rPr lang="en-US" dirty="0"/>
            </a:br>
            <a:endParaRPr lang="en-US" dirty="0"/>
          </a:p>
          <a:p>
            <a:r>
              <a:rPr lang="en-US" dirty="0"/>
              <a:t>Finally, the system keeps a record of important actions, such as scheduling or canceling a lesson. This ensures accountability and allows the business to review activity if there is ever a dispute or concern.</a:t>
            </a:r>
          </a:p>
          <a:p>
            <a:br>
              <a:rPr lang="en-US" dirty="0"/>
            </a:br>
            <a:endParaRPr lang="en-US" dirty="0"/>
          </a:p>
          <a:p>
            <a:r>
              <a:rPr lang="en-US" dirty="0"/>
              <a:t>These measures help ensure that </a:t>
            </a:r>
            <a:r>
              <a:rPr lang="en-US" dirty="0" err="1"/>
              <a:t>DriverPass</a:t>
            </a:r>
            <a:r>
              <a:rPr lang="en-US" dirty="0"/>
              <a:t> can operate confidently while protecting both customer trust and business integrity.</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a:t>
            </a:r>
            <a:r>
              <a:rPr lang="en-US" dirty="0" err="1"/>
              <a:t>DriverPass</a:t>
            </a:r>
            <a:r>
              <a:rPr lang="en-US" dirty="0"/>
              <a:t> system is designed to improve scheduling and coordination, there are some natural limitations to consider.</a:t>
            </a:r>
          </a:p>
          <a:p>
            <a:br>
              <a:rPr lang="en-US" dirty="0"/>
            </a:br>
            <a:endParaRPr lang="en-US" dirty="0"/>
          </a:p>
          <a:p>
            <a:r>
              <a:rPr lang="en-US" dirty="0"/>
              <a:t>Because the platform is web-based, it requires internet access to function. If a user does not have internet access or if there is a temporary service outage, the system will not be available during that time. Additionally, since the system runs through a web browser, performance may vary slightly depending on the user’s device.</a:t>
            </a:r>
          </a:p>
          <a:p>
            <a:br>
              <a:rPr lang="en-US" dirty="0"/>
            </a:br>
            <a:endParaRPr lang="en-US" dirty="0"/>
          </a:p>
          <a:p>
            <a:r>
              <a:rPr lang="en-US" dirty="0"/>
              <a:t>The design also focuses specifically on scheduling, lesson management, and exam preparation. If </a:t>
            </a:r>
            <a:r>
              <a:rPr lang="en-US" dirty="0" err="1"/>
              <a:t>DriverPass</a:t>
            </a:r>
            <a:r>
              <a:rPr lang="en-US" dirty="0"/>
              <a:t> wanted to expand into additional services in the future, such as mobile applications or expanded reporting tools, those features would require further development.</a:t>
            </a:r>
          </a:p>
          <a:p>
            <a:br>
              <a:rPr lang="en-US" dirty="0"/>
            </a:br>
            <a:endParaRPr lang="en-US" dirty="0"/>
          </a:p>
          <a:p>
            <a:r>
              <a:rPr lang="en-US" dirty="0"/>
              <a:t>These limitations are typical for an online system, but the current design provides a strong and scalable foundation that meets </a:t>
            </a:r>
            <a:r>
              <a:rPr lang="en-US" dirty="0" err="1"/>
              <a:t>DriverPass’s</a:t>
            </a:r>
            <a:r>
              <a:rPr lang="en-US"/>
              <a:t> current operational needs while allowing room for future growth.</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3/1/26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3/1/26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3/1/26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3/1/26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3/1/26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3/1/26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3/1/26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3/1/26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3/1/26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3/1/26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3/1/26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3/1/26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emf"/><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emf"/><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James Marcano</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b="1" dirty="0"/>
              <a:t>Functional Requirements</a:t>
            </a:r>
            <a:endParaRPr lang="en-US" sz="2400" dirty="0"/>
          </a:p>
          <a:p>
            <a:r>
              <a:rPr lang="en-US" sz="2400" dirty="0"/>
              <a:t>User registration and login</a:t>
            </a:r>
          </a:p>
          <a:p>
            <a:r>
              <a:rPr lang="en-US" sz="2400" dirty="0"/>
              <a:t>Lesson scheduling and cancellation</a:t>
            </a:r>
          </a:p>
          <a:p>
            <a:r>
              <a:rPr lang="en-US" sz="2400" dirty="0"/>
              <a:t>Instructor availability management</a:t>
            </a:r>
          </a:p>
          <a:p>
            <a:r>
              <a:rPr lang="en-US" sz="2400" dirty="0"/>
              <a:t>Administrative oversight</a:t>
            </a:r>
            <a:br>
              <a:rPr lang="en-US" sz="2400" dirty="0"/>
            </a:br>
            <a:endParaRPr lang="en-US" sz="2400" dirty="0"/>
          </a:p>
          <a:p>
            <a:r>
              <a:rPr lang="en-US" sz="2400" b="1" dirty="0"/>
              <a:t>Nonfunctional Requirements</a:t>
            </a:r>
            <a:endParaRPr lang="en-US" sz="2400" dirty="0"/>
          </a:p>
          <a:p>
            <a:r>
              <a:rPr lang="en-US" sz="2400" dirty="0"/>
              <a:t>Secure authentication</a:t>
            </a:r>
          </a:p>
          <a:p>
            <a:r>
              <a:rPr lang="en-US" sz="2400" dirty="0"/>
              <a:t>Database storage</a:t>
            </a:r>
          </a:p>
          <a:p>
            <a:r>
              <a:rPr lang="en-US" sz="2400" dirty="0"/>
              <a:t>Reliable performance</a:t>
            </a:r>
          </a:p>
          <a:p>
            <a:r>
              <a:rPr lang="en-US" sz="2400" dirty="0"/>
              <a:t>Scalable architecture</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8" name="Content Placeholder 7">
            <a:extLst>
              <a:ext uri="{FF2B5EF4-FFF2-40B4-BE49-F238E27FC236}">
                <a16:creationId xmlns:a16="http://schemas.microsoft.com/office/drawing/2014/main" id="{82D17E20-15ED-14DD-C4FE-D884525E9179}"/>
              </a:ext>
            </a:extLst>
          </p:cNvPr>
          <p:cNvPicPr>
            <a:picLocks noGrp="1" noChangeAspect="1"/>
          </p:cNvPicPr>
          <p:nvPr>
            <p:ph idx="1"/>
          </p:nvPr>
        </p:nvPicPr>
        <p:blipFill>
          <a:blip r:embed="rId5"/>
          <a:stretch>
            <a:fillRect/>
          </a:stretch>
        </p:blipFill>
        <p:spPr>
          <a:xfrm>
            <a:off x="6091238" y="1085579"/>
            <a:ext cx="5305425" cy="466303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a:extLst>
              <a:ext uri="{FF2B5EF4-FFF2-40B4-BE49-F238E27FC236}">
                <a16:creationId xmlns:a16="http://schemas.microsoft.com/office/drawing/2014/main" id="{AE405796-55C7-A961-270C-FA42B7F43572}"/>
              </a:ext>
            </a:extLst>
          </p:cNvPr>
          <p:cNvPicPr>
            <a:picLocks noGrp="1" noChangeAspect="1"/>
          </p:cNvPicPr>
          <p:nvPr>
            <p:ph idx="1"/>
          </p:nvPr>
        </p:nvPicPr>
        <p:blipFill>
          <a:blip r:embed="rId5"/>
          <a:stretch>
            <a:fillRect/>
          </a:stretch>
        </p:blipFill>
        <p:spPr>
          <a:xfrm>
            <a:off x="7763173" y="801688"/>
            <a:ext cx="1961554" cy="5230812"/>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t>Encrypted passwords</a:t>
            </a:r>
          </a:p>
          <a:p>
            <a:r>
              <a:rPr lang="en-US" sz="2400" dirty="0"/>
              <a:t>Role-based access control</a:t>
            </a:r>
          </a:p>
          <a:p>
            <a:r>
              <a:rPr lang="en-US" sz="2400" dirty="0"/>
              <a:t>HTTPS encryption</a:t>
            </a:r>
          </a:p>
          <a:p>
            <a:r>
              <a:rPr lang="en-US" sz="2400" dirty="0"/>
              <a:t>Activity logging</a:t>
            </a:r>
          </a:p>
          <a:p>
            <a:r>
              <a:rPr lang="en-US" sz="2400" dirty="0"/>
              <a:t>Session management</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t>Requires internet access</a:t>
            </a:r>
          </a:p>
          <a:p>
            <a:r>
              <a:rPr lang="en-US" sz="2400" dirty="0"/>
              <a:t>Dependent on server availability</a:t>
            </a:r>
          </a:p>
          <a:p>
            <a:r>
              <a:rPr lang="en-US" sz="2400" dirty="0"/>
              <a:t>Web-based interface only</a:t>
            </a:r>
          </a:p>
          <a:p>
            <a:r>
              <a:rPr lang="en-US" sz="2400" dirty="0"/>
              <a:t>Limited to defined user roles</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baef15b-b8de-423f-9d8a-46f3686d8848}" enabled="0" method="" siteId="{2baef15b-b8de-423f-9d8a-46f3686d8848}" removed="1"/>
</clbl:labelList>
</file>

<file path=docProps/app.xml><?xml version="1.0" encoding="utf-8"?>
<Properties xmlns="http://schemas.openxmlformats.org/officeDocument/2006/extended-properties" xmlns:vt="http://schemas.openxmlformats.org/officeDocument/2006/docPropsVTypes">
  <Template>WebD281</Template>
  <TotalTime>1505</TotalTime>
  <Words>1010</Words>
  <Application>Microsoft Macintosh PowerPoint</Application>
  <PresentationFormat>Widescreen</PresentationFormat>
  <Paragraphs>64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James Marcano</cp:lastModifiedBy>
  <cp:revision>21</cp:revision>
  <dcterms:created xsi:type="dcterms:W3CDTF">2019-10-14T02:36:52Z</dcterms:created>
  <dcterms:modified xsi:type="dcterms:W3CDTF">2026-03-02T01:55:03Z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